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2" d="100"/>
          <a:sy n="112"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05D1FEC-6BEB-491F-9566-8F5D3567641F}" type="datetimeFigureOut">
              <a:rPr lang="en-IN" smtClean="0"/>
              <a:t>09-04-2024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ADE90F-712B-4214-AFC0-8563A14D6236}" type="slidenum">
              <a:rPr lang="en-IN" smtClean="0"/>
              <a:t>‹#›</a:t>
            </a:fld>
            <a:endParaRPr lang="en-IN"/>
          </a:p>
        </p:txBody>
      </p:sp>
    </p:spTree>
    <p:extLst>
      <p:ext uri="{BB962C8B-B14F-4D97-AF65-F5344CB8AC3E}">
        <p14:creationId xmlns:p14="http://schemas.microsoft.com/office/powerpoint/2010/main" val="1003068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4008"/>
          </a:xfrm>
        </p:spPr>
        <p:txBody>
          <a:bodyPr>
            <a:normAutofit/>
          </a:bodyPr>
          <a:lstStyle>
            <a:lvl1pPr>
              <a:defRPr sz="3800"/>
            </a:lvl1pPr>
          </a:lstStyle>
          <a:p>
            <a:r>
              <a:rPr lang="en-US" dirty="0" smtClean="0"/>
              <a:t>Click to edit Master title style</a:t>
            </a:r>
            <a:endParaRPr lang="en-IN" dirty="0"/>
          </a:p>
        </p:txBody>
      </p:sp>
      <p:sp>
        <p:nvSpPr>
          <p:cNvPr id="3" name="Content Placeholder 2"/>
          <p:cNvSpPr>
            <a:spLocks noGrp="1"/>
          </p:cNvSpPr>
          <p:nvPr>
            <p:ph idx="1"/>
          </p:nvPr>
        </p:nvSpPr>
        <p:spPr>
          <a:xfrm>
            <a:off x="838200" y="1236133"/>
            <a:ext cx="10515600" cy="4940830"/>
          </a:xfrm>
        </p:spPr>
        <p:txBody>
          <a:bodyPr/>
          <a:lstStyle>
            <a:lvl1pPr>
              <a:defRPr sz="2400"/>
            </a:lvl1pPr>
            <a:lvl2pPr>
              <a:defRPr sz="2200"/>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Date Placeholder 3"/>
          <p:cNvSpPr>
            <a:spLocks noGrp="1"/>
          </p:cNvSpPr>
          <p:nvPr>
            <p:ph type="dt" sz="half" idx="10"/>
          </p:nvPr>
        </p:nvSpPr>
        <p:spPr/>
        <p:txBody>
          <a:bodyPr/>
          <a:lstStyle/>
          <a:p>
            <a:fld id="{B05D1FEC-6BEB-491F-9566-8F5D3567641F}" type="datetimeFigureOut">
              <a:rPr lang="en-IN" smtClean="0"/>
              <a:t>09-04-2024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ADE90F-712B-4214-AFC0-8563A14D6236}" type="slidenum">
              <a:rPr lang="en-IN" smtClean="0"/>
              <a:t>‹#›</a:t>
            </a:fld>
            <a:endParaRPr lang="en-IN"/>
          </a:p>
        </p:txBody>
      </p:sp>
    </p:spTree>
    <p:extLst>
      <p:ext uri="{BB962C8B-B14F-4D97-AF65-F5344CB8AC3E}">
        <p14:creationId xmlns:p14="http://schemas.microsoft.com/office/powerpoint/2010/main" val="3070943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05D1FEC-6BEB-491F-9566-8F5D3567641F}" type="datetimeFigureOut">
              <a:rPr lang="en-IN" smtClean="0"/>
              <a:t>09-04-2024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ADE90F-712B-4214-AFC0-8563A14D6236}" type="slidenum">
              <a:rPr lang="en-IN" smtClean="0"/>
              <a:t>‹#›</a:t>
            </a:fld>
            <a:endParaRPr lang="en-IN"/>
          </a:p>
        </p:txBody>
      </p:sp>
    </p:spTree>
    <p:extLst>
      <p:ext uri="{BB962C8B-B14F-4D97-AF65-F5344CB8AC3E}">
        <p14:creationId xmlns:p14="http://schemas.microsoft.com/office/powerpoint/2010/main" val="1493616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05D1FEC-6BEB-491F-9566-8F5D3567641F}" type="datetimeFigureOut">
              <a:rPr lang="en-IN" smtClean="0"/>
              <a:t>09-04-2024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ADE90F-712B-4214-AFC0-8563A14D6236}" type="slidenum">
              <a:rPr lang="en-IN" smtClean="0"/>
              <a:t>‹#›</a:t>
            </a:fld>
            <a:endParaRPr lang="en-IN"/>
          </a:p>
        </p:txBody>
      </p:sp>
    </p:spTree>
    <p:extLst>
      <p:ext uri="{BB962C8B-B14F-4D97-AF65-F5344CB8AC3E}">
        <p14:creationId xmlns:p14="http://schemas.microsoft.com/office/powerpoint/2010/main" val="2245281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05D1FEC-6BEB-491F-9566-8F5D3567641F}" type="datetimeFigureOut">
              <a:rPr lang="en-IN" smtClean="0"/>
              <a:t>09-04-2024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6ADE90F-712B-4214-AFC0-8563A14D6236}" type="slidenum">
              <a:rPr lang="en-IN" smtClean="0"/>
              <a:t>‹#›</a:t>
            </a:fld>
            <a:endParaRPr lang="en-IN"/>
          </a:p>
        </p:txBody>
      </p:sp>
    </p:spTree>
    <p:extLst>
      <p:ext uri="{BB962C8B-B14F-4D97-AF65-F5344CB8AC3E}">
        <p14:creationId xmlns:p14="http://schemas.microsoft.com/office/powerpoint/2010/main" val="1601468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05D1FEC-6BEB-491F-9566-8F5D3567641F}" type="datetimeFigureOut">
              <a:rPr lang="en-IN" smtClean="0"/>
              <a:t>09-04-2024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6ADE90F-712B-4214-AFC0-8563A14D6236}" type="slidenum">
              <a:rPr lang="en-IN" smtClean="0"/>
              <a:t>‹#›</a:t>
            </a:fld>
            <a:endParaRPr lang="en-IN"/>
          </a:p>
        </p:txBody>
      </p:sp>
    </p:spTree>
    <p:extLst>
      <p:ext uri="{BB962C8B-B14F-4D97-AF65-F5344CB8AC3E}">
        <p14:creationId xmlns:p14="http://schemas.microsoft.com/office/powerpoint/2010/main" val="586631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5D1FEC-6BEB-491F-9566-8F5D3567641F}" type="datetimeFigureOut">
              <a:rPr lang="en-IN" smtClean="0"/>
              <a:t>09-04-2024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6ADE90F-712B-4214-AFC0-8563A14D6236}" type="slidenum">
              <a:rPr lang="en-IN" smtClean="0"/>
              <a:t>‹#›</a:t>
            </a:fld>
            <a:endParaRPr lang="en-IN"/>
          </a:p>
        </p:txBody>
      </p:sp>
    </p:spTree>
    <p:extLst>
      <p:ext uri="{BB962C8B-B14F-4D97-AF65-F5344CB8AC3E}">
        <p14:creationId xmlns:p14="http://schemas.microsoft.com/office/powerpoint/2010/main" val="392311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05D1FEC-6BEB-491F-9566-8F5D3567641F}" type="datetimeFigureOut">
              <a:rPr lang="en-IN" smtClean="0"/>
              <a:t>09-04-2024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ADE90F-712B-4214-AFC0-8563A14D6236}" type="slidenum">
              <a:rPr lang="en-IN" smtClean="0"/>
              <a:t>‹#›</a:t>
            </a:fld>
            <a:endParaRPr lang="en-IN"/>
          </a:p>
        </p:txBody>
      </p:sp>
    </p:spTree>
    <p:extLst>
      <p:ext uri="{BB962C8B-B14F-4D97-AF65-F5344CB8AC3E}">
        <p14:creationId xmlns:p14="http://schemas.microsoft.com/office/powerpoint/2010/main" val="2098862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05D1FEC-6BEB-491F-9566-8F5D3567641F}" type="datetimeFigureOut">
              <a:rPr lang="en-IN" smtClean="0"/>
              <a:t>09-04-2024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ADE90F-712B-4214-AFC0-8563A14D6236}" type="slidenum">
              <a:rPr lang="en-IN" smtClean="0"/>
              <a:t>‹#›</a:t>
            </a:fld>
            <a:endParaRPr lang="en-IN"/>
          </a:p>
        </p:txBody>
      </p:sp>
    </p:spTree>
    <p:extLst>
      <p:ext uri="{BB962C8B-B14F-4D97-AF65-F5344CB8AC3E}">
        <p14:creationId xmlns:p14="http://schemas.microsoft.com/office/powerpoint/2010/main" val="2386773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05D1FEC-6BEB-491F-9566-8F5D3567641F}" type="datetimeFigureOut">
              <a:rPr lang="en-IN" smtClean="0"/>
              <a:t>09-04-2024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ADE90F-712B-4214-AFC0-8563A14D6236}" type="slidenum">
              <a:rPr lang="en-IN" smtClean="0"/>
              <a:t>‹#›</a:t>
            </a:fld>
            <a:endParaRPr lang="en-IN"/>
          </a:p>
        </p:txBody>
      </p:sp>
    </p:spTree>
    <p:extLst>
      <p:ext uri="{BB962C8B-B14F-4D97-AF65-F5344CB8AC3E}">
        <p14:creationId xmlns:p14="http://schemas.microsoft.com/office/powerpoint/2010/main" val="3123784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05D1FEC-6BEB-491F-9566-8F5D3567641F}" type="datetimeFigureOut">
              <a:rPr lang="en-IN" smtClean="0"/>
              <a:t>09-04-2024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ADE90F-712B-4214-AFC0-8563A14D6236}" type="slidenum">
              <a:rPr lang="en-IN" smtClean="0"/>
              <a:t>‹#›</a:t>
            </a:fld>
            <a:endParaRPr lang="en-IN"/>
          </a:p>
        </p:txBody>
      </p:sp>
    </p:spTree>
    <p:extLst>
      <p:ext uri="{BB962C8B-B14F-4D97-AF65-F5344CB8AC3E}">
        <p14:creationId xmlns:p14="http://schemas.microsoft.com/office/powerpoint/2010/main" val="3944723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5D1FEC-6BEB-491F-9566-8F5D3567641F}" type="datetimeFigureOut">
              <a:rPr lang="en-IN" smtClean="0"/>
              <a:t>09-04-2024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ADE90F-712B-4214-AFC0-8563A14D6236}" type="slidenum">
              <a:rPr lang="en-IN" smtClean="0"/>
              <a:t>‹#›</a:t>
            </a:fld>
            <a:endParaRPr lang="en-IN"/>
          </a:p>
        </p:txBody>
      </p:sp>
    </p:spTree>
    <p:extLst>
      <p:ext uri="{BB962C8B-B14F-4D97-AF65-F5344CB8AC3E}">
        <p14:creationId xmlns:p14="http://schemas.microsoft.com/office/powerpoint/2010/main" val="3380578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Servlet</a:t>
            </a:r>
            <a:endParaRPr lang="en-IN" dirty="0"/>
          </a:p>
        </p:txBody>
      </p:sp>
      <p:sp>
        <p:nvSpPr>
          <p:cNvPr id="3" name="Subtitle 2"/>
          <p:cNvSpPr>
            <a:spLocks noGrp="1"/>
          </p:cNvSpPr>
          <p:nvPr>
            <p:ph type="subTitle" idx="1"/>
          </p:nvPr>
        </p:nvSpPr>
        <p:spPr/>
        <p:txBody>
          <a:bodyPr/>
          <a:lstStyle/>
          <a:p>
            <a:r>
              <a:rPr lang="en-IN" dirty="0" smtClean="0"/>
              <a:t>(Servlet to Servlet)</a:t>
            </a:r>
            <a:endParaRPr lang="en-IN" dirty="0"/>
          </a:p>
        </p:txBody>
      </p:sp>
    </p:spTree>
    <p:extLst>
      <p:ext uri="{BB962C8B-B14F-4D97-AF65-F5344CB8AC3E}">
        <p14:creationId xmlns:p14="http://schemas.microsoft.com/office/powerpoint/2010/main" val="3111995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Servlet overview</a:t>
            </a:r>
            <a:endParaRPr lang="en-IN" dirty="0"/>
          </a:p>
        </p:txBody>
      </p:sp>
      <p:sp>
        <p:nvSpPr>
          <p:cNvPr id="3" name="Content Placeholder 2"/>
          <p:cNvSpPr>
            <a:spLocks noGrp="1"/>
          </p:cNvSpPr>
          <p:nvPr>
            <p:ph idx="1"/>
          </p:nvPr>
        </p:nvSpPr>
        <p:spPr/>
        <p:txBody>
          <a:bodyPr>
            <a:normAutofit/>
          </a:bodyPr>
          <a:lstStyle/>
          <a:p>
            <a:r>
              <a:rPr lang="en-IN" dirty="0" smtClean="0"/>
              <a:t>Servlets </a:t>
            </a:r>
            <a:r>
              <a:rPr lang="en-IN" dirty="0"/>
              <a:t>are the Java programs that run on the server-side and generate dynamic responses to the client request. </a:t>
            </a:r>
            <a:endParaRPr lang="en-IN" dirty="0" smtClean="0"/>
          </a:p>
          <a:p>
            <a:r>
              <a:rPr lang="en-IN" dirty="0" smtClean="0"/>
              <a:t>The </a:t>
            </a:r>
            <a:r>
              <a:rPr lang="en-IN" dirty="0"/>
              <a:t>execution of the Servlet involves the following steps</a:t>
            </a:r>
            <a:r>
              <a:rPr lang="en-IN" dirty="0" smtClean="0"/>
              <a:t>:</a:t>
            </a:r>
          </a:p>
          <a:p>
            <a:pPr lvl="1" fontAlgn="base"/>
            <a:r>
              <a:rPr lang="en-IN" dirty="0"/>
              <a:t>The client sends the request through the browser to the Web server/Application Server.</a:t>
            </a:r>
          </a:p>
          <a:p>
            <a:pPr lvl="1" fontAlgn="base"/>
            <a:r>
              <a:rPr lang="en-IN" dirty="0"/>
              <a:t>The server passes the client request to the respective servlet.</a:t>
            </a:r>
          </a:p>
          <a:p>
            <a:pPr lvl="1" fontAlgn="base"/>
            <a:r>
              <a:rPr lang="en-IN" dirty="0"/>
              <a:t>Servlet processes the request generates the response and sends the response back to the server.</a:t>
            </a:r>
          </a:p>
          <a:p>
            <a:pPr lvl="1" fontAlgn="base"/>
            <a:r>
              <a:rPr lang="en-IN" dirty="0"/>
              <a:t>The server passes the generated response to the browser/client</a:t>
            </a:r>
          </a:p>
          <a:p>
            <a:endParaRPr lang="en-IN" dirty="0"/>
          </a:p>
        </p:txBody>
      </p:sp>
    </p:spTree>
    <p:extLst>
      <p:ext uri="{BB962C8B-B14F-4D97-AF65-F5344CB8AC3E}">
        <p14:creationId xmlns:p14="http://schemas.microsoft.com/office/powerpoint/2010/main" val="31194667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Call </a:t>
            </a:r>
            <a:r>
              <a:rPr lang="en-IN" dirty="0"/>
              <a:t>a servlet from another servlet</a:t>
            </a:r>
            <a:endParaRPr lang="en-IN" dirty="0"/>
          </a:p>
        </p:txBody>
      </p:sp>
      <p:sp>
        <p:nvSpPr>
          <p:cNvPr id="3" name="Content Placeholder 2"/>
          <p:cNvSpPr>
            <a:spLocks noGrp="1"/>
          </p:cNvSpPr>
          <p:nvPr>
            <p:ph idx="1"/>
          </p:nvPr>
        </p:nvSpPr>
        <p:spPr/>
        <p:txBody>
          <a:bodyPr/>
          <a:lstStyle/>
          <a:p>
            <a:pPr fontAlgn="base">
              <a:lnSpc>
                <a:spcPct val="150000"/>
              </a:lnSpc>
            </a:pPr>
            <a:r>
              <a:rPr lang="en-IN" dirty="0" smtClean="0"/>
              <a:t>Now, let’s consider we have a requirement to call a servlet from another servlet bypassing the information using request and response objects. We can achieve this in 2 ways, servlet provides</a:t>
            </a:r>
          </a:p>
          <a:p>
            <a:pPr lvl="1" fontAlgn="base">
              <a:lnSpc>
                <a:spcPct val="150000"/>
              </a:lnSpc>
            </a:pPr>
            <a:r>
              <a:rPr lang="en-IN" dirty="0" err="1" smtClean="0"/>
              <a:t>RequestDispatcher</a:t>
            </a:r>
            <a:r>
              <a:rPr lang="en-IN" dirty="0" smtClean="0"/>
              <a:t>()</a:t>
            </a:r>
          </a:p>
          <a:p>
            <a:pPr lvl="1" fontAlgn="base">
              <a:lnSpc>
                <a:spcPct val="150000"/>
              </a:lnSpc>
            </a:pPr>
            <a:r>
              <a:rPr lang="en-IN" dirty="0" err="1" smtClean="0"/>
              <a:t>sendRedirect</a:t>
            </a:r>
            <a:r>
              <a:rPr lang="en-IN" dirty="0" smtClean="0"/>
              <a:t>()</a:t>
            </a:r>
          </a:p>
          <a:p>
            <a:endParaRPr lang="en-IN" dirty="0"/>
          </a:p>
        </p:txBody>
      </p:sp>
    </p:spTree>
    <p:extLst>
      <p:ext uri="{BB962C8B-B14F-4D97-AF65-F5344CB8AC3E}">
        <p14:creationId xmlns:p14="http://schemas.microsoft.com/office/powerpoint/2010/main" val="2608678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err="1" smtClean="0"/>
              <a:t>RequestDispatcher</a:t>
            </a:r>
            <a:r>
              <a:rPr lang="en-IN" b="1" dirty="0" smtClean="0"/>
              <a:t> Interface</a:t>
            </a:r>
            <a:endParaRPr lang="en-IN" dirty="0"/>
          </a:p>
        </p:txBody>
      </p:sp>
      <p:sp>
        <p:nvSpPr>
          <p:cNvPr id="3" name="Content Placeholder 2"/>
          <p:cNvSpPr>
            <a:spLocks noGrp="1"/>
          </p:cNvSpPr>
          <p:nvPr>
            <p:ph idx="1"/>
          </p:nvPr>
        </p:nvSpPr>
        <p:spPr/>
        <p:txBody>
          <a:bodyPr>
            <a:normAutofit fontScale="92500" lnSpcReduction="10000"/>
          </a:bodyPr>
          <a:lstStyle/>
          <a:p>
            <a:pPr fontAlgn="base"/>
            <a:r>
              <a:rPr lang="en-IN" dirty="0" smtClean="0"/>
              <a:t>Servlets provide </a:t>
            </a:r>
            <a:r>
              <a:rPr lang="en-IN" dirty="0" err="1" smtClean="0"/>
              <a:t>RequestDispatcher</a:t>
            </a:r>
            <a:r>
              <a:rPr lang="en-IN" dirty="0" smtClean="0"/>
              <a:t> in </a:t>
            </a:r>
            <a:r>
              <a:rPr lang="en-IN" b="1" dirty="0" err="1" smtClean="0"/>
              <a:t>javax.servlet</a:t>
            </a:r>
            <a:r>
              <a:rPr lang="en-IN" b="1" dirty="0" smtClean="0"/>
              <a:t> package</a:t>
            </a:r>
            <a:r>
              <a:rPr lang="en-IN" dirty="0" smtClean="0"/>
              <a:t>. It </a:t>
            </a:r>
            <a:r>
              <a:rPr lang="en-IN" dirty="0"/>
              <a:t>defines an object to dispatch the client request from one servlet to another servlet on the same server. </a:t>
            </a:r>
            <a:endParaRPr lang="en-IN" dirty="0" smtClean="0"/>
          </a:p>
          <a:p>
            <a:pPr fontAlgn="base"/>
            <a:r>
              <a:rPr lang="en-IN" dirty="0" smtClean="0"/>
              <a:t>Basically</a:t>
            </a:r>
            <a:r>
              <a:rPr lang="en-IN" dirty="0"/>
              <a:t>, this can be used to receive the client request object and send that object to any other resource such as Servlet, JSP, HTML file, etc. We can get the </a:t>
            </a:r>
            <a:r>
              <a:rPr lang="en-IN" dirty="0" err="1"/>
              <a:t>RequestDispatcher</a:t>
            </a:r>
            <a:r>
              <a:rPr lang="en-IN" dirty="0"/>
              <a:t> object using the below syntax:</a:t>
            </a:r>
          </a:p>
          <a:p>
            <a:pPr marL="457200" lvl="1" indent="0">
              <a:buNone/>
            </a:pPr>
            <a:r>
              <a:rPr lang="en-IN" dirty="0" smtClean="0"/>
              <a:t>              </a:t>
            </a:r>
            <a:r>
              <a:rPr lang="en-IN" dirty="0" err="1" smtClean="0">
                <a:solidFill>
                  <a:srgbClr val="FF0000"/>
                </a:solidFill>
              </a:rPr>
              <a:t>RequestDispatcher</a:t>
            </a:r>
            <a:r>
              <a:rPr lang="en-IN" dirty="0" smtClean="0">
                <a:solidFill>
                  <a:srgbClr val="FF0000"/>
                </a:solidFill>
              </a:rPr>
              <a:t> </a:t>
            </a:r>
            <a:r>
              <a:rPr lang="en-IN" dirty="0">
                <a:solidFill>
                  <a:srgbClr val="FF0000"/>
                </a:solidFill>
              </a:rPr>
              <a:t>r = </a:t>
            </a:r>
            <a:r>
              <a:rPr lang="en-IN" dirty="0" err="1">
                <a:solidFill>
                  <a:srgbClr val="FF0000"/>
                </a:solidFill>
              </a:rPr>
              <a:t>req.getRequestDispatcher</a:t>
            </a:r>
            <a:r>
              <a:rPr lang="en-IN" dirty="0">
                <a:solidFill>
                  <a:srgbClr val="FF0000"/>
                </a:solidFill>
              </a:rPr>
              <a:t>(String </a:t>
            </a:r>
            <a:r>
              <a:rPr lang="en-IN" dirty="0" err="1">
                <a:solidFill>
                  <a:srgbClr val="FF0000"/>
                </a:solidFill>
              </a:rPr>
              <a:t>arg</a:t>
            </a:r>
            <a:r>
              <a:rPr lang="en-IN" dirty="0" smtClean="0">
                <a:solidFill>
                  <a:srgbClr val="FF0000"/>
                </a:solidFill>
              </a:rPr>
              <a:t>);</a:t>
            </a:r>
          </a:p>
          <a:p>
            <a:pPr marL="0" indent="0" fontAlgn="base">
              <a:buNone/>
            </a:pPr>
            <a:r>
              <a:rPr lang="en-IN" b="1" dirty="0"/>
              <a:t>forward() method</a:t>
            </a:r>
          </a:p>
          <a:p>
            <a:pPr fontAlgn="base"/>
            <a:r>
              <a:rPr lang="en-IN" dirty="0"/>
              <a:t>This method forwards a request from a servlet to another servlet on the same server. It allows one servlet to do the initial processing of a request, obtains the </a:t>
            </a:r>
            <a:r>
              <a:rPr lang="en-IN" dirty="0" err="1"/>
              <a:t>RequestDispatcher</a:t>
            </a:r>
            <a:r>
              <a:rPr lang="en-IN" dirty="0"/>
              <a:t> object, and forwards the request to another servlet to generate the response.</a:t>
            </a:r>
          </a:p>
          <a:p>
            <a:pPr marL="457200" lvl="1" indent="0">
              <a:buNone/>
            </a:pPr>
            <a:r>
              <a:rPr lang="en-IN" dirty="0" smtClean="0"/>
              <a:t>               </a:t>
            </a:r>
            <a:r>
              <a:rPr lang="en-IN" dirty="0" err="1">
                <a:solidFill>
                  <a:srgbClr val="FF0000"/>
                </a:solidFill>
              </a:rPr>
              <a:t>r.forward</a:t>
            </a:r>
            <a:r>
              <a:rPr lang="en-IN" dirty="0">
                <a:solidFill>
                  <a:srgbClr val="FF0000"/>
                </a:solidFill>
              </a:rPr>
              <a:t>(</a:t>
            </a:r>
            <a:r>
              <a:rPr lang="en-IN" dirty="0" err="1">
                <a:solidFill>
                  <a:srgbClr val="FF0000"/>
                </a:solidFill>
              </a:rPr>
              <a:t>req</a:t>
            </a:r>
            <a:r>
              <a:rPr lang="en-IN" dirty="0">
                <a:solidFill>
                  <a:srgbClr val="FF0000"/>
                </a:solidFill>
              </a:rPr>
              <a:t>, </a:t>
            </a:r>
            <a:r>
              <a:rPr lang="en-IN" dirty="0" err="1">
                <a:solidFill>
                  <a:srgbClr val="FF0000"/>
                </a:solidFill>
              </a:rPr>
              <a:t>resp</a:t>
            </a:r>
            <a:r>
              <a:rPr lang="en-IN" dirty="0" smtClean="0">
                <a:solidFill>
                  <a:srgbClr val="FF0000"/>
                </a:solidFill>
              </a:rPr>
              <a:t>);</a:t>
            </a:r>
          </a:p>
          <a:p>
            <a:pPr marL="457200" lvl="1" indent="0">
              <a:buNone/>
            </a:pPr>
            <a:endParaRPr lang="en-IN" dirty="0" smtClean="0">
              <a:solidFill>
                <a:srgbClr val="FF0000"/>
              </a:solidFill>
            </a:endParaRPr>
          </a:p>
          <a:p>
            <a:pPr marL="457200" lvl="1" indent="0">
              <a:buNone/>
            </a:pPr>
            <a:r>
              <a:rPr lang="en-IN" sz="1900" dirty="0" smtClean="0"/>
              <a:t>Note : When </a:t>
            </a:r>
            <a:r>
              <a:rPr lang="en-IN" sz="1900" dirty="0"/>
              <a:t>we are forwarding the client request using the forward() method, the client/browser doesn’t even know that the request is forwarding to another servlet file or JSP file or from which file response will be generating. There will be no change in the URL in the browser.</a:t>
            </a:r>
            <a:endParaRPr lang="en-IN" sz="1900" dirty="0">
              <a:solidFill>
                <a:srgbClr val="FF0000"/>
              </a:solidFill>
            </a:endParaRPr>
          </a:p>
        </p:txBody>
      </p:sp>
    </p:spTree>
    <p:extLst>
      <p:ext uri="{BB962C8B-B14F-4D97-AF65-F5344CB8AC3E}">
        <p14:creationId xmlns:p14="http://schemas.microsoft.com/office/powerpoint/2010/main" val="2868412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err="1"/>
              <a:t>sendRedirect</a:t>
            </a:r>
            <a:r>
              <a:rPr lang="en-IN" b="1" dirty="0"/>
              <a:t>() </a:t>
            </a:r>
            <a:r>
              <a:rPr lang="en-IN" b="1" dirty="0" smtClean="0"/>
              <a:t>method</a:t>
            </a:r>
            <a:endParaRPr lang="en-IN" dirty="0"/>
          </a:p>
        </p:txBody>
      </p:sp>
      <p:sp>
        <p:nvSpPr>
          <p:cNvPr id="3" name="Content Placeholder 2"/>
          <p:cNvSpPr>
            <a:spLocks noGrp="1"/>
          </p:cNvSpPr>
          <p:nvPr>
            <p:ph idx="1"/>
          </p:nvPr>
        </p:nvSpPr>
        <p:spPr/>
        <p:txBody>
          <a:bodyPr/>
          <a:lstStyle/>
          <a:p>
            <a:r>
              <a:rPr lang="en-IN" dirty="0"/>
              <a:t>It sends a temporary redirect response to the client using the specified redirect location URL given in the method and clears the buffer. </a:t>
            </a:r>
            <a:endParaRPr lang="en-IN" dirty="0" smtClean="0"/>
          </a:p>
          <a:p>
            <a:r>
              <a:rPr lang="en-IN" dirty="0" smtClean="0"/>
              <a:t>Let’s </a:t>
            </a:r>
            <a:r>
              <a:rPr lang="en-IN" dirty="0"/>
              <a:t>consider a scenario, where we need to redirect the request from a servlet to other servlets which is in another server, in this case, we can use the </a:t>
            </a:r>
            <a:r>
              <a:rPr lang="en-IN" dirty="0" err="1"/>
              <a:t>sendRedirect</a:t>
            </a:r>
            <a:r>
              <a:rPr lang="en-IN" dirty="0"/>
              <a:t>() method so that the client/browser knows where the request is going and getting processed. </a:t>
            </a:r>
            <a:endParaRPr lang="en-IN" dirty="0" smtClean="0"/>
          </a:p>
          <a:p>
            <a:pPr marL="457200" lvl="1" indent="0">
              <a:buNone/>
            </a:pPr>
            <a:r>
              <a:rPr lang="en-IN" dirty="0" smtClean="0"/>
              <a:t>      </a:t>
            </a:r>
            <a:r>
              <a:rPr lang="en-IN" dirty="0" err="1" smtClean="0">
                <a:solidFill>
                  <a:srgbClr val="FF0000"/>
                </a:solidFill>
              </a:rPr>
              <a:t>resp.sendRedirect</a:t>
            </a:r>
            <a:r>
              <a:rPr lang="en-IN" dirty="0" smtClean="0">
                <a:solidFill>
                  <a:srgbClr val="FF0000"/>
                </a:solidFill>
              </a:rPr>
              <a:t>(</a:t>
            </a:r>
            <a:r>
              <a:rPr lang="en-IN" dirty="0" err="1" smtClean="0">
                <a:solidFill>
                  <a:srgbClr val="FF0000"/>
                </a:solidFill>
              </a:rPr>
              <a:t>java.lang.String</a:t>
            </a:r>
            <a:r>
              <a:rPr lang="en-IN" dirty="0" smtClean="0">
                <a:solidFill>
                  <a:srgbClr val="FF0000"/>
                </a:solidFill>
              </a:rPr>
              <a:t> </a:t>
            </a:r>
            <a:r>
              <a:rPr lang="en-IN" dirty="0">
                <a:solidFill>
                  <a:srgbClr val="FF0000"/>
                </a:solidFill>
              </a:rPr>
              <a:t>location)</a:t>
            </a:r>
          </a:p>
        </p:txBody>
      </p:sp>
    </p:spTree>
    <p:extLst>
      <p:ext uri="{BB962C8B-B14F-4D97-AF65-F5344CB8AC3E}">
        <p14:creationId xmlns:p14="http://schemas.microsoft.com/office/powerpoint/2010/main" val="1103035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213</Words>
  <Application>Microsoft Office PowerPoint</Application>
  <PresentationFormat>Widescreen</PresentationFormat>
  <Paragraphs>26</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Servlet</vt:lpstr>
      <vt:lpstr>Servlet overview</vt:lpstr>
      <vt:lpstr>Call a servlet from another servlet</vt:lpstr>
      <vt:lpstr>RequestDispatcher Interface</vt:lpstr>
      <vt:lpstr>sendRedirect()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4</cp:revision>
  <dcterms:created xsi:type="dcterms:W3CDTF">2023-10-20T08:10:43Z</dcterms:created>
  <dcterms:modified xsi:type="dcterms:W3CDTF">2024-04-09T09:48:17Z</dcterms:modified>
</cp:coreProperties>
</file>